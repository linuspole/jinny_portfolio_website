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D8A2F9-D3D6-46E0-9F1C-20AB430B7330}" type="datetimeFigureOut">
              <a:rPr lang="en-US" smtClean="0"/>
              <a:t>4/16/2025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5A40BA-CD58-4107-89E3-6C46067F5FA9}" type="slidenum">
              <a:rPr lang="en-US" smtClean="0"/>
              <a:t>‹#›</a:t>
            </a:fld>
            <a:endParaRPr lang="en-US"/>
          </a:p>
        </p:txBody>
      </p:sp>
    </p:spTree>
    <p:extLst>
      <p:ext uri="{BB962C8B-B14F-4D97-AF65-F5344CB8AC3E}">
        <p14:creationId xmlns:p14="http://schemas.microsoft.com/office/powerpoint/2010/main" val="3986021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Hello class. I am going to discuss Pica. Pica is an eating disorder whereby there is persistent consumption of non-nutritive substances. I will also talk about Pica's etiology, symptomatology, behavioral manifestations, treatment options, and implications for nursing practice. The goal is to provide an understanding of Pica and inform effective management strategies.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Pica is defined by the DSM-5 as the persistent eating of non-food substances over a period of at least one month, inappropriate to the developmental level of the individual. Dirt, clay, and paper are some of the items ingested (</a:t>
            </a:r>
            <a:r>
              <a:rPr lang="en-US" sz="1200" kern="1200" dirty="0" err="1" smtClean="0">
                <a:solidFill>
                  <a:schemeClr val="tx1"/>
                </a:solidFill>
                <a:effectLst/>
                <a:latin typeface="+mn-lt"/>
                <a:ea typeface="+mn-ea"/>
                <a:cs typeface="+mn-cs"/>
              </a:rPr>
              <a:t>Ganesan</a:t>
            </a:r>
            <a:r>
              <a:rPr lang="en-US" sz="1200" kern="1200" dirty="0" smtClean="0">
                <a:solidFill>
                  <a:schemeClr val="tx1"/>
                </a:solidFill>
                <a:effectLst/>
                <a:latin typeface="+mn-lt"/>
                <a:ea typeface="+mn-ea"/>
                <a:cs typeface="+mn-cs"/>
              </a:rPr>
              <a:t> &amp; </a:t>
            </a:r>
            <a:r>
              <a:rPr lang="en-US" sz="1200" kern="1200" dirty="0" err="1" smtClean="0">
                <a:solidFill>
                  <a:schemeClr val="tx1"/>
                </a:solidFill>
                <a:effectLst/>
                <a:latin typeface="+mn-lt"/>
                <a:ea typeface="+mn-ea"/>
                <a:cs typeface="+mn-cs"/>
              </a:rPr>
              <a:t>Vasauskas</a:t>
            </a:r>
            <a:r>
              <a:rPr lang="en-US" sz="1200" kern="1200" dirty="0" smtClean="0">
                <a:solidFill>
                  <a:schemeClr val="tx1"/>
                </a:solidFill>
                <a:effectLst/>
                <a:latin typeface="+mn-lt"/>
                <a:ea typeface="+mn-ea"/>
                <a:cs typeface="+mn-cs"/>
              </a:rPr>
              <a:t>, 2023). Certain cultural practices may involve the consumption of non-nutritive substances; however, they become clinically significant when they pose health risks (</a:t>
            </a:r>
            <a:r>
              <a:rPr lang="en-US" sz="1200" kern="1200" dirty="0" err="1" smtClean="0">
                <a:solidFill>
                  <a:schemeClr val="tx1"/>
                </a:solidFill>
                <a:effectLst/>
                <a:latin typeface="+mn-lt"/>
                <a:ea typeface="+mn-ea"/>
                <a:cs typeface="+mn-cs"/>
              </a:rPr>
              <a:t>Ganesan</a:t>
            </a:r>
            <a:r>
              <a:rPr lang="en-US" sz="1200" kern="1200" dirty="0" smtClean="0">
                <a:solidFill>
                  <a:schemeClr val="tx1"/>
                </a:solidFill>
                <a:effectLst/>
                <a:latin typeface="+mn-lt"/>
                <a:ea typeface="+mn-ea"/>
                <a:cs typeface="+mn-cs"/>
              </a:rPr>
              <a:t> &amp; </a:t>
            </a:r>
            <a:r>
              <a:rPr lang="en-US" sz="1200" kern="1200" dirty="0" err="1" smtClean="0">
                <a:solidFill>
                  <a:schemeClr val="tx1"/>
                </a:solidFill>
                <a:effectLst/>
                <a:latin typeface="+mn-lt"/>
                <a:ea typeface="+mn-ea"/>
                <a:cs typeface="+mn-cs"/>
              </a:rPr>
              <a:t>Vasauskas</a:t>
            </a:r>
            <a:r>
              <a:rPr lang="en-US" sz="1200" kern="1200" dirty="0" smtClean="0">
                <a:solidFill>
                  <a:schemeClr val="tx1"/>
                </a:solidFill>
                <a:effectLst/>
                <a:latin typeface="+mn-lt"/>
                <a:ea typeface="+mn-ea"/>
                <a:cs typeface="+mn-cs"/>
              </a:rPr>
              <a:t>, 2023). The disorder is prevalent in children and individuals with developmental disabilities.</a:t>
            </a:r>
          </a:p>
          <a:p>
            <a:endParaRPr lang="en-US" dirty="0"/>
          </a:p>
        </p:txBody>
      </p:sp>
      <p:sp>
        <p:nvSpPr>
          <p:cNvPr id="4" name="Slide Number Placeholder 3"/>
          <p:cNvSpPr>
            <a:spLocks noGrp="1"/>
          </p:cNvSpPr>
          <p:nvPr>
            <p:ph type="sldNum" sz="quarter" idx="10"/>
          </p:nvPr>
        </p:nvSpPr>
        <p:spPr/>
        <p:txBody>
          <a:bodyPr/>
          <a:lstStyle/>
          <a:p>
            <a:fld id="{035A40BA-CD58-4107-89E3-6C46067F5FA9}" type="slidenum">
              <a:rPr lang="en-US" smtClean="0"/>
              <a:t>2</a:t>
            </a:fld>
            <a:endParaRPr lang="en-US"/>
          </a:p>
        </p:txBody>
      </p:sp>
    </p:spTree>
    <p:extLst>
      <p:ext uri="{BB962C8B-B14F-4D97-AF65-F5344CB8AC3E}">
        <p14:creationId xmlns:p14="http://schemas.microsoft.com/office/powerpoint/2010/main" val="3215730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Nutritional deficiencies, such as iron and zinc, are linked to the disorder; Psychological factors, such as stress and trauma, also contribute. Individuals with developmental disorders, ASD, have higher rates of Pica. Cultural practices accept certain forms of behavior. Schnitzler (2022) states that dopamine pathways contribute to Pica's development.</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35A40BA-CD58-4107-89E3-6C46067F5FA9}" type="slidenum">
              <a:rPr lang="en-US" smtClean="0"/>
              <a:t>3</a:t>
            </a:fld>
            <a:endParaRPr lang="en-US"/>
          </a:p>
        </p:txBody>
      </p:sp>
    </p:spTree>
    <p:extLst>
      <p:ext uri="{BB962C8B-B14F-4D97-AF65-F5344CB8AC3E}">
        <p14:creationId xmlns:p14="http://schemas.microsoft.com/office/powerpoint/2010/main" val="926485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Individuals with Pica exhibit a persistent craving for and consumption of non-nutritive substances, which leads to serious gastrointestinal issues, including obstruction or perforation, and may result in poisoning with substances like lead (Al Nasser &amp; </a:t>
            </a:r>
            <a:r>
              <a:rPr lang="en-US" sz="1200" kern="1200" dirty="0" err="1" smtClean="0">
                <a:solidFill>
                  <a:schemeClr val="tx1"/>
                </a:solidFill>
                <a:effectLst/>
                <a:latin typeface="+mn-lt"/>
                <a:ea typeface="+mn-ea"/>
                <a:cs typeface="+mn-cs"/>
              </a:rPr>
              <a:t>Alsaad</a:t>
            </a:r>
            <a:r>
              <a:rPr lang="en-US" sz="1200" kern="1200" dirty="0" smtClean="0">
                <a:solidFill>
                  <a:schemeClr val="tx1"/>
                </a:solidFill>
                <a:effectLst/>
                <a:latin typeface="+mn-lt"/>
                <a:ea typeface="+mn-ea"/>
                <a:cs typeface="+mn-cs"/>
              </a:rPr>
              <a:t>, 2023). The ingestion of non-food items can exacerbate existing nutritional deficiencies and impair social and functional abilities.</a:t>
            </a:r>
          </a:p>
          <a:p>
            <a:endParaRPr lang="en-US" dirty="0"/>
          </a:p>
        </p:txBody>
      </p:sp>
      <p:sp>
        <p:nvSpPr>
          <p:cNvPr id="4" name="Slide Number Placeholder 3"/>
          <p:cNvSpPr>
            <a:spLocks noGrp="1"/>
          </p:cNvSpPr>
          <p:nvPr>
            <p:ph type="sldNum" sz="quarter" idx="10"/>
          </p:nvPr>
        </p:nvSpPr>
        <p:spPr/>
        <p:txBody>
          <a:bodyPr/>
          <a:lstStyle/>
          <a:p>
            <a:fld id="{035A40BA-CD58-4107-89E3-6C46067F5FA9}" type="slidenum">
              <a:rPr lang="en-US" smtClean="0"/>
              <a:t>4</a:t>
            </a:fld>
            <a:endParaRPr lang="en-US"/>
          </a:p>
        </p:txBody>
      </p:sp>
    </p:spTree>
    <p:extLst>
      <p:ext uri="{BB962C8B-B14F-4D97-AF65-F5344CB8AC3E}">
        <p14:creationId xmlns:p14="http://schemas.microsoft.com/office/powerpoint/2010/main" val="1385451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People with Pica repeatedly ingest specific non-food items in a secretive manner, and they show a marked preference for certain substances and resist eating regular food. Observers notice signs of gastrointestinal distress, such as abdominal pain or constipation, resulting from the ingestion of indigestible materials (</a:t>
            </a:r>
            <a:r>
              <a:rPr lang="en-US" sz="1200" kern="1200" dirty="0" err="1" smtClean="0">
                <a:solidFill>
                  <a:schemeClr val="tx1"/>
                </a:solidFill>
                <a:effectLst/>
                <a:latin typeface="+mn-lt"/>
                <a:ea typeface="+mn-ea"/>
                <a:cs typeface="+mn-cs"/>
              </a:rPr>
              <a:t>Akgul</a:t>
            </a:r>
            <a:r>
              <a:rPr lang="en-US" sz="1200" kern="1200" dirty="0" smtClean="0">
                <a:solidFill>
                  <a:schemeClr val="tx1"/>
                </a:solidFill>
                <a:effectLst/>
                <a:latin typeface="+mn-lt"/>
                <a:ea typeface="+mn-ea"/>
                <a:cs typeface="+mn-cs"/>
              </a:rPr>
              <a:t>, 2020).</a:t>
            </a:r>
          </a:p>
          <a:p>
            <a:endParaRPr lang="en-US" dirty="0"/>
          </a:p>
        </p:txBody>
      </p:sp>
      <p:sp>
        <p:nvSpPr>
          <p:cNvPr id="4" name="Slide Number Placeholder 3"/>
          <p:cNvSpPr>
            <a:spLocks noGrp="1"/>
          </p:cNvSpPr>
          <p:nvPr>
            <p:ph type="sldNum" sz="quarter" idx="10"/>
          </p:nvPr>
        </p:nvSpPr>
        <p:spPr/>
        <p:txBody>
          <a:bodyPr/>
          <a:lstStyle/>
          <a:p>
            <a:fld id="{035A40BA-CD58-4107-89E3-6C46067F5FA9}" type="slidenum">
              <a:rPr lang="en-US" smtClean="0"/>
              <a:t>5</a:t>
            </a:fld>
            <a:endParaRPr lang="en-US"/>
          </a:p>
        </p:txBody>
      </p:sp>
    </p:spTree>
    <p:extLst>
      <p:ext uri="{BB962C8B-B14F-4D97-AF65-F5344CB8AC3E}">
        <p14:creationId xmlns:p14="http://schemas.microsoft.com/office/powerpoint/2010/main" val="2706100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Behavioral interventions, such as ABA, have shown efficacy in individuals with developmental disorders. Cognitive-behavioral therapy can help modify maladaptive behaviors (Thomas et al., 2023). Environmental modifications that reduce access to non-food items are also beneficial, and finally, physicians, psychologists, and nutritionists are essential for optimal management.</a:t>
            </a:r>
          </a:p>
          <a:p>
            <a:endParaRPr lang="en-US" dirty="0"/>
          </a:p>
        </p:txBody>
      </p:sp>
      <p:sp>
        <p:nvSpPr>
          <p:cNvPr id="4" name="Slide Number Placeholder 3"/>
          <p:cNvSpPr>
            <a:spLocks noGrp="1"/>
          </p:cNvSpPr>
          <p:nvPr>
            <p:ph type="sldNum" sz="quarter" idx="10"/>
          </p:nvPr>
        </p:nvSpPr>
        <p:spPr/>
        <p:txBody>
          <a:bodyPr/>
          <a:lstStyle/>
          <a:p>
            <a:fld id="{035A40BA-CD58-4107-89E3-6C46067F5FA9}" type="slidenum">
              <a:rPr lang="en-US" smtClean="0"/>
              <a:t>6</a:t>
            </a:fld>
            <a:endParaRPr lang="en-US"/>
          </a:p>
        </p:txBody>
      </p:sp>
    </p:spTree>
    <p:extLst>
      <p:ext uri="{BB962C8B-B14F-4D97-AF65-F5344CB8AC3E}">
        <p14:creationId xmlns:p14="http://schemas.microsoft.com/office/powerpoint/2010/main" val="2495898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decision between counseling and hospitalization depends on the severity of the Pica behavior and associated complications. Mild cases may be managed with outpatient counseling, which focuses on behavioral and nutritional interventions (Williams et al., 2022). Hospitalization is only warranted in situations involving medical emergencies, such as intestinal obstruction or severe psychiatric comorbidities (Williams et al., 2022). Continuous assessment helps determine the appropriate level of care, and involving family members can enhance treatment outcomes.</a:t>
            </a:r>
          </a:p>
          <a:p>
            <a:endParaRPr lang="en-US" dirty="0"/>
          </a:p>
        </p:txBody>
      </p:sp>
      <p:sp>
        <p:nvSpPr>
          <p:cNvPr id="4" name="Slide Number Placeholder 3"/>
          <p:cNvSpPr>
            <a:spLocks noGrp="1"/>
          </p:cNvSpPr>
          <p:nvPr>
            <p:ph type="sldNum" sz="quarter" idx="10"/>
          </p:nvPr>
        </p:nvSpPr>
        <p:spPr/>
        <p:txBody>
          <a:bodyPr/>
          <a:lstStyle/>
          <a:p>
            <a:fld id="{035A40BA-CD58-4107-89E3-6C46067F5FA9}" type="slidenum">
              <a:rPr lang="en-US" smtClean="0"/>
              <a:t>7</a:t>
            </a:fld>
            <a:endParaRPr lang="en-US"/>
          </a:p>
        </p:txBody>
      </p:sp>
    </p:spTree>
    <p:extLst>
      <p:ext uri="{BB962C8B-B14F-4D97-AF65-F5344CB8AC3E}">
        <p14:creationId xmlns:p14="http://schemas.microsoft.com/office/powerpoint/2010/main" val="579053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There are currently no FDA-approved medications for treating Pica (Al Nasser &amp; </a:t>
            </a:r>
            <a:r>
              <a:rPr lang="en-US" sz="1200" kern="1200" dirty="0" err="1" smtClean="0">
                <a:solidFill>
                  <a:schemeClr val="tx1"/>
                </a:solidFill>
                <a:effectLst/>
                <a:latin typeface="+mn-lt"/>
                <a:ea typeface="+mn-ea"/>
                <a:cs typeface="+mn-cs"/>
              </a:rPr>
              <a:t>Alsaad</a:t>
            </a:r>
            <a:r>
              <a:rPr lang="en-US" sz="1200" kern="1200" dirty="0" smtClean="0">
                <a:solidFill>
                  <a:schemeClr val="tx1"/>
                </a:solidFill>
                <a:effectLst/>
                <a:latin typeface="+mn-lt"/>
                <a:ea typeface="+mn-ea"/>
                <a:cs typeface="+mn-cs"/>
              </a:rPr>
              <a:t>, 2023). Pharmacological interventions may be employed based on underlying conditions but do not fully treat the disorder. Iron supplementation is effective in cases where Pica is associated with iron deficiency anemia (Williams et al., 2022). Selective serotonin reuptake inhibitors (SSRIs) can be beneficial for individuals with comorbid obsessive-compulsive disorder or anxiety (Williams et al., 2022). In severe psychiatric cases, antipsychotic medications may be considered. </a:t>
            </a:r>
          </a:p>
          <a:p>
            <a:endParaRPr lang="en-US" dirty="0"/>
          </a:p>
        </p:txBody>
      </p:sp>
      <p:sp>
        <p:nvSpPr>
          <p:cNvPr id="4" name="Slide Number Placeholder 3"/>
          <p:cNvSpPr>
            <a:spLocks noGrp="1"/>
          </p:cNvSpPr>
          <p:nvPr>
            <p:ph type="sldNum" sz="quarter" idx="10"/>
          </p:nvPr>
        </p:nvSpPr>
        <p:spPr/>
        <p:txBody>
          <a:bodyPr/>
          <a:lstStyle/>
          <a:p>
            <a:fld id="{035A40BA-CD58-4107-89E3-6C46067F5FA9}" type="slidenum">
              <a:rPr lang="en-US" smtClean="0"/>
              <a:t>8</a:t>
            </a:fld>
            <a:endParaRPr lang="en-US"/>
          </a:p>
        </p:txBody>
      </p:sp>
    </p:spTree>
    <p:extLst>
      <p:ext uri="{BB962C8B-B14F-4D97-AF65-F5344CB8AC3E}">
        <p14:creationId xmlns:p14="http://schemas.microsoft.com/office/powerpoint/2010/main" val="916576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Nurses assist in identification and management of Pica by conducting thorough assessments that help detect Pica's behaviors early. Nurses also educate and sensitize patients and their families about the associated risks, which is important for the prevention of Pica (Al Nasser &amp; </a:t>
            </a:r>
            <a:r>
              <a:rPr lang="en-US" sz="1200" kern="1200" dirty="0" err="1" smtClean="0">
                <a:solidFill>
                  <a:schemeClr val="tx1"/>
                </a:solidFill>
                <a:effectLst/>
                <a:latin typeface="+mn-lt"/>
                <a:ea typeface="+mn-ea"/>
                <a:cs typeface="+mn-cs"/>
              </a:rPr>
              <a:t>Alsaad</a:t>
            </a:r>
            <a:r>
              <a:rPr lang="en-US" sz="1200" kern="1200" dirty="0" smtClean="0">
                <a:solidFill>
                  <a:schemeClr val="tx1"/>
                </a:solidFill>
                <a:effectLst/>
                <a:latin typeface="+mn-lt"/>
                <a:ea typeface="+mn-ea"/>
                <a:cs typeface="+mn-cs"/>
              </a:rPr>
              <a:t>, 2023). Nurses collaborate with other healthcare professionals to develop and implement comprehensive care plans. They also teach safety measures, such as removing hazardous items from the environment, to prevent ingestion (Al Nasser &amp; </a:t>
            </a:r>
            <a:r>
              <a:rPr lang="en-US" sz="1200" kern="1200" dirty="0" err="1" smtClean="0">
                <a:solidFill>
                  <a:schemeClr val="tx1"/>
                </a:solidFill>
                <a:effectLst/>
                <a:latin typeface="+mn-lt"/>
                <a:ea typeface="+mn-ea"/>
                <a:cs typeface="+mn-cs"/>
              </a:rPr>
              <a:t>Alsaad</a:t>
            </a:r>
            <a:r>
              <a:rPr lang="en-US" sz="1200" kern="1200" dirty="0" smtClean="0">
                <a:solidFill>
                  <a:schemeClr val="tx1"/>
                </a:solidFill>
                <a:effectLst/>
                <a:latin typeface="+mn-lt"/>
                <a:ea typeface="+mn-ea"/>
                <a:cs typeface="+mn-cs"/>
              </a:rPr>
              <a:t>, 2023). They also Monitor the patient's nutritional status and provide interventions where necessary.</a:t>
            </a:r>
          </a:p>
          <a:p>
            <a:endParaRPr lang="en-US" dirty="0"/>
          </a:p>
        </p:txBody>
      </p:sp>
      <p:sp>
        <p:nvSpPr>
          <p:cNvPr id="4" name="Slide Number Placeholder 3"/>
          <p:cNvSpPr>
            <a:spLocks noGrp="1"/>
          </p:cNvSpPr>
          <p:nvPr>
            <p:ph type="sldNum" sz="quarter" idx="10"/>
          </p:nvPr>
        </p:nvSpPr>
        <p:spPr/>
        <p:txBody>
          <a:bodyPr/>
          <a:lstStyle/>
          <a:p>
            <a:fld id="{035A40BA-CD58-4107-89E3-6C46067F5FA9}" type="slidenum">
              <a:rPr lang="en-US" smtClean="0"/>
              <a:t>9</a:t>
            </a:fld>
            <a:endParaRPr lang="en-US"/>
          </a:p>
        </p:txBody>
      </p:sp>
    </p:spTree>
    <p:extLst>
      <p:ext uri="{BB962C8B-B14F-4D97-AF65-F5344CB8AC3E}">
        <p14:creationId xmlns:p14="http://schemas.microsoft.com/office/powerpoint/2010/main" val="925332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Pica disorder requires a thoughtful and holistic approach so that there can be early detection and intervention that prevent severe medical complications and improve outcomes. Both the nutritional and psychological contributors to the behavior should be treated. Nurses play a huge role in patient education and ongoing care to manage the condition. Continued research and awareness, however, should enhance the ability to support individuals affected by this condition and develop more effective treatment strategies.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35A40BA-CD58-4107-89E3-6C46067F5FA9}" type="slidenum">
              <a:rPr lang="en-US" smtClean="0"/>
              <a:t>10</a:t>
            </a:fld>
            <a:endParaRPr lang="en-US"/>
          </a:p>
        </p:txBody>
      </p:sp>
    </p:spTree>
    <p:extLst>
      <p:ext uri="{BB962C8B-B14F-4D97-AF65-F5344CB8AC3E}">
        <p14:creationId xmlns:p14="http://schemas.microsoft.com/office/powerpoint/2010/main" val="1888903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477401D-3084-4FCF-9B87-977342D7D73C}" type="datetimeFigureOut">
              <a:rPr lang="en-US" smtClean="0"/>
              <a:t>4/16/2025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F06DA752-CF9F-4DA0-95FD-3871F76DFB15}"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477401D-3084-4FCF-9B87-977342D7D73C}"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477401D-3084-4FCF-9B87-977342D7D73C}"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6DA752-CF9F-4DA0-95FD-3871F76DFB15}"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477401D-3084-4FCF-9B87-977342D7D73C}"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477401D-3084-4FCF-9B87-977342D7D73C}" type="datetimeFigureOut">
              <a:rPr lang="en-US" smtClean="0"/>
              <a:t>4/16/2025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477401D-3084-4FCF-9B87-977342D7D73C}" type="datetimeFigureOut">
              <a:rPr lang="en-US" smtClean="0"/>
              <a:t>4/16/2025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77401D-3084-4FCF-9B87-977342D7D73C}" type="datetimeFigureOut">
              <a:rPr lang="en-US" smtClean="0"/>
              <a:t>4/16/2025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477401D-3084-4FCF-9B87-977342D7D73C}"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477401D-3084-4FCF-9B87-977342D7D73C}" type="datetimeFigureOut">
              <a:rPr lang="en-US" smtClean="0"/>
              <a:t>4/16/2025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F06DA752-CF9F-4DA0-95FD-3871F76DFB15}"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477401D-3084-4FCF-9B87-977342D7D73C}"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477401D-3084-4FCF-9B87-977342D7D73C}" type="datetimeFigureOut">
              <a:rPr lang="en-US" smtClean="0"/>
              <a:t>4/16/2025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6DA752-CF9F-4DA0-95FD-3871F76DFB1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477401D-3084-4FCF-9B87-977342D7D73C}" type="datetimeFigureOut">
              <a:rPr lang="en-US" smtClean="0"/>
              <a:t>4/16/2025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06DA752-CF9F-4DA0-95FD-3871F76DFB15}"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doi.org/10.1192/bja.2022.24" TargetMode="External"/><Relationship Id="rId3" Type="http://schemas.openxmlformats.org/officeDocument/2006/relationships/hyperlink" Target="https://www.ncbi.nlm.nih.gov/books/NBK532242/" TargetMode="External"/><Relationship Id="rId7" Type="http://schemas.openxmlformats.org/officeDocument/2006/relationships/hyperlink" Target="https://doi.org/10.1037/cpp0000511" TargetMode="External"/><Relationship Id="rId2" Type="http://schemas.openxmlformats.org/officeDocument/2006/relationships/hyperlink" Target="https://doi.org/10.1016/j.ijso.2020.11.010" TargetMode="External"/><Relationship Id="rId1" Type="http://schemas.openxmlformats.org/officeDocument/2006/relationships/slideLayout" Target="../slideLayouts/slideLayout2.xml"/><Relationship Id="rId6" Type="http://schemas.openxmlformats.org/officeDocument/2006/relationships/hyperlink" Target="https://doi.org/10.1007/s11910-022-01218-2" TargetMode="External"/><Relationship Id="rId5" Type="http://schemas.openxmlformats.org/officeDocument/2006/relationships/hyperlink" Target="https://doi.org/10.1002/cpp.2491" TargetMode="External"/><Relationship Id="rId4" Type="http://schemas.openxmlformats.org/officeDocument/2006/relationships/hyperlink" Target="https://doi.org/10.7759/cureus.379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685800"/>
            <a:ext cx="7772400" cy="5562600"/>
          </a:xfrm>
        </p:spPr>
        <p:txBody>
          <a:bodyPr>
            <a:normAutofit fontScale="90000"/>
          </a:bodyPr>
          <a:lstStyle/>
          <a:p>
            <a:pPr algn="ctr"/>
            <a:r>
              <a:rPr lang="en-US" b="1" dirty="0" smtClean="0">
                <a:latin typeface="+mn-lt"/>
              </a:rPr>
              <a:t>Pico </a:t>
            </a:r>
            <a:r>
              <a:rPr lang="en-US" dirty="0" smtClean="0">
                <a:latin typeface="+mn-lt"/>
              </a:rPr>
              <a:t/>
            </a:r>
            <a:br>
              <a:rPr lang="en-US" dirty="0" smtClean="0">
                <a:latin typeface="+mn-lt"/>
              </a:rPr>
            </a:br>
            <a:r>
              <a:rPr lang="en-US" dirty="0" smtClean="0">
                <a:latin typeface="+mn-lt"/>
              </a:rPr>
              <a:t/>
            </a:r>
            <a:br>
              <a:rPr lang="en-US" dirty="0" smtClean="0">
                <a:latin typeface="+mn-lt"/>
              </a:rPr>
            </a:br>
            <a:r>
              <a:rPr lang="en-US" b="0" dirty="0" smtClean="0">
                <a:latin typeface="+mn-lt"/>
              </a:rPr>
              <a:t>Student’s Name</a:t>
            </a:r>
            <a:br>
              <a:rPr lang="en-US" b="0" dirty="0" smtClean="0">
                <a:latin typeface="+mn-lt"/>
              </a:rPr>
            </a:br>
            <a:r>
              <a:rPr lang="en-US" b="0" dirty="0" smtClean="0">
                <a:latin typeface="+mn-lt"/>
              </a:rPr>
              <a:t>Institutional Affiliation</a:t>
            </a:r>
            <a:br>
              <a:rPr lang="en-US" b="0" dirty="0" smtClean="0">
                <a:latin typeface="+mn-lt"/>
              </a:rPr>
            </a:br>
            <a:r>
              <a:rPr lang="en-US" b="0" dirty="0" smtClean="0">
                <a:latin typeface="+mn-lt"/>
              </a:rPr>
              <a:t>Course Title</a:t>
            </a:r>
            <a:br>
              <a:rPr lang="en-US" b="0" dirty="0" smtClean="0">
                <a:latin typeface="+mn-lt"/>
              </a:rPr>
            </a:br>
            <a:r>
              <a:rPr lang="en-US" b="0" dirty="0" smtClean="0">
                <a:latin typeface="+mn-lt"/>
              </a:rPr>
              <a:t>Professor’s Name</a:t>
            </a:r>
            <a:br>
              <a:rPr lang="en-US" b="0" dirty="0" smtClean="0">
                <a:latin typeface="+mn-lt"/>
              </a:rPr>
            </a:br>
            <a:r>
              <a:rPr lang="en-US" b="0" dirty="0" smtClean="0">
                <a:latin typeface="+mn-lt"/>
              </a:rPr>
              <a:t>Date</a:t>
            </a:r>
            <a:endParaRPr lang="en-US" b="0" dirty="0">
              <a:latin typeface="+mn-lt"/>
            </a:endParaRPr>
          </a:p>
        </p:txBody>
      </p:sp>
    </p:spTree>
    <p:extLst>
      <p:ext uri="{BB962C8B-B14F-4D97-AF65-F5344CB8AC3E}">
        <p14:creationId xmlns:p14="http://schemas.microsoft.com/office/powerpoint/2010/main" val="284772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latin typeface="+mn-lt"/>
              </a:rPr>
              <a:t>Introduction: Purpose and Description of </a:t>
            </a:r>
            <a:r>
              <a:rPr lang="en-US" b="1" dirty="0" smtClean="0">
                <a:latin typeface="+mn-lt"/>
              </a:rPr>
              <a:t>Pica</a:t>
            </a:r>
            <a:endParaRPr lang="en-US" dirty="0">
              <a:latin typeface="+mn-lt"/>
            </a:endParaRPr>
          </a:p>
        </p:txBody>
      </p:sp>
      <p:sp>
        <p:nvSpPr>
          <p:cNvPr id="3" name="Content Placeholder 2"/>
          <p:cNvSpPr>
            <a:spLocks noGrp="1"/>
          </p:cNvSpPr>
          <p:nvPr>
            <p:ph idx="1"/>
          </p:nvPr>
        </p:nvSpPr>
        <p:spPr/>
        <p:txBody>
          <a:bodyPr>
            <a:normAutofit/>
          </a:bodyPr>
          <a:lstStyle/>
          <a:p>
            <a:pPr lvl="0"/>
            <a:r>
              <a:rPr lang="en-US" dirty="0"/>
              <a:t>Pica is an ingestion of non-nutritive substances for at least one month (</a:t>
            </a:r>
            <a:r>
              <a:rPr lang="en-US" dirty="0" err="1"/>
              <a:t>Ganesan</a:t>
            </a:r>
            <a:r>
              <a:rPr lang="en-US" dirty="0"/>
              <a:t> &amp; </a:t>
            </a:r>
            <a:r>
              <a:rPr lang="en-US" dirty="0" err="1"/>
              <a:t>Vasauskas</a:t>
            </a:r>
            <a:r>
              <a:rPr lang="en-US" dirty="0"/>
              <a:t>, 2023).</a:t>
            </a:r>
          </a:p>
          <a:p>
            <a:pPr lvl="0"/>
            <a:r>
              <a:rPr lang="en-US" dirty="0"/>
              <a:t>Consumed items: Dirt, clay, paper, hair, and paint.</a:t>
            </a:r>
          </a:p>
          <a:p>
            <a:pPr lvl="0"/>
            <a:r>
              <a:rPr lang="en-US" dirty="0"/>
              <a:t>Observed in children, pregnant women, and individuals with developmental disorders (</a:t>
            </a:r>
            <a:r>
              <a:rPr lang="en-US" dirty="0" err="1"/>
              <a:t>Ganesan</a:t>
            </a:r>
            <a:r>
              <a:rPr lang="en-US" dirty="0"/>
              <a:t> &amp; </a:t>
            </a:r>
            <a:r>
              <a:rPr lang="en-US" dirty="0" err="1"/>
              <a:t>Vasauskas</a:t>
            </a:r>
            <a:r>
              <a:rPr lang="en-US" dirty="0"/>
              <a:t>, 2023).</a:t>
            </a:r>
          </a:p>
          <a:p>
            <a:pPr lvl="0"/>
            <a:r>
              <a:rPr lang="en-US" dirty="0"/>
              <a:t>Some practices may be culturally sanctioned.</a:t>
            </a:r>
          </a:p>
          <a:p>
            <a:pPr lvl="0"/>
            <a:r>
              <a:rPr lang="en-US" dirty="0"/>
              <a:t>Clinical significance: Potential for serious health complications.</a:t>
            </a:r>
          </a:p>
          <a:p>
            <a:pPr lvl="0"/>
            <a:endParaRPr lang="en-US" dirty="0"/>
          </a:p>
        </p:txBody>
      </p:sp>
    </p:spTree>
    <p:extLst>
      <p:ext uri="{BB962C8B-B14F-4D97-AF65-F5344CB8AC3E}">
        <p14:creationId xmlns:p14="http://schemas.microsoft.com/office/powerpoint/2010/main" val="603737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a:bodyPr>
          <a:lstStyle/>
          <a:p>
            <a:pPr algn="ctr"/>
            <a:r>
              <a:rPr lang="en-US" sz="4000" b="1" dirty="0">
                <a:latin typeface="+mn-lt"/>
              </a:rPr>
              <a:t>Etiology</a:t>
            </a:r>
            <a:endParaRPr lang="en-US" dirty="0">
              <a:latin typeface="+mn-lt"/>
            </a:endParaRPr>
          </a:p>
        </p:txBody>
      </p:sp>
      <p:sp>
        <p:nvSpPr>
          <p:cNvPr id="3" name="Content Placeholder 2"/>
          <p:cNvSpPr>
            <a:spLocks noGrp="1"/>
          </p:cNvSpPr>
          <p:nvPr>
            <p:ph idx="1"/>
          </p:nvPr>
        </p:nvSpPr>
        <p:spPr>
          <a:xfrm>
            <a:off x="457200" y="1600200"/>
            <a:ext cx="8229600" cy="5029200"/>
          </a:xfrm>
        </p:spPr>
        <p:txBody>
          <a:bodyPr>
            <a:normAutofit/>
          </a:bodyPr>
          <a:lstStyle/>
          <a:p>
            <a:pPr lvl="0"/>
            <a:r>
              <a:rPr lang="en-US" sz="3200" dirty="0"/>
              <a:t>Iron and zinc deficiencies are commonly associated (Al Nasser &amp; </a:t>
            </a:r>
            <a:r>
              <a:rPr lang="en-US" sz="3200" dirty="0" err="1"/>
              <a:t>Alsaad</a:t>
            </a:r>
            <a:r>
              <a:rPr lang="en-US" sz="3200" dirty="0"/>
              <a:t>, 2023).</a:t>
            </a:r>
          </a:p>
          <a:p>
            <a:pPr lvl="0"/>
            <a:r>
              <a:rPr lang="en-US" sz="3200" dirty="0"/>
              <a:t>Stress, trauma, and mental health disorders.</a:t>
            </a:r>
          </a:p>
          <a:p>
            <a:pPr lvl="0"/>
            <a:r>
              <a:rPr lang="en-US" sz="3200" dirty="0"/>
              <a:t>Higher incidence in individuals with autism spectrum disorder (ASD).</a:t>
            </a:r>
          </a:p>
          <a:p>
            <a:pPr lvl="0"/>
            <a:r>
              <a:rPr lang="en-US" sz="3200" dirty="0"/>
              <a:t>Some forms of Pica are culturally accepted.</a:t>
            </a:r>
          </a:p>
          <a:p>
            <a:pPr lvl="0"/>
            <a:r>
              <a:rPr lang="en-US" sz="3200" dirty="0"/>
              <a:t>Potential involvement of dopamine pathways (Al Nasser &amp; </a:t>
            </a:r>
            <a:r>
              <a:rPr lang="en-US" sz="3200" dirty="0" err="1"/>
              <a:t>Alsaad</a:t>
            </a:r>
            <a:r>
              <a:rPr lang="en-US" sz="3200" dirty="0"/>
              <a:t>, 2023).</a:t>
            </a:r>
          </a:p>
        </p:txBody>
      </p:sp>
    </p:spTree>
    <p:extLst>
      <p:ext uri="{BB962C8B-B14F-4D97-AF65-F5344CB8AC3E}">
        <p14:creationId xmlns:p14="http://schemas.microsoft.com/office/powerpoint/2010/main" val="5581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819912"/>
          </a:xfrm>
        </p:spPr>
        <p:txBody>
          <a:bodyPr>
            <a:normAutofit/>
          </a:bodyPr>
          <a:lstStyle/>
          <a:p>
            <a:pPr algn="ctr"/>
            <a:r>
              <a:rPr lang="en-US" sz="4000" b="1" dirty="0">
                <a:latin typeface="+mn-lt"/>
              </a:rPr>
              <a:t>Symptomatology</a:t>
            </a:r>
            <a:endParaRPr lang="en-US" sz="4000" dirty="0">
              <a:latin typeface="+mn-lt"/>
            </a:endParaRPr>
          </a:p>
        </p:txBody>
      </p:sp>
      <p:sp>
        <p:nvSpPr>
          <p:cNvPr id="3" name="Content Placeholder 2"/>
          <p:cNvSpPr>
            <a:spLocks noGrp="1"/>
          </p:cNvSpPr>
          <p:nvPr>
            <p:ph idx="1"/>
          </p:nvPr>
        </p:nvSpPr>
        <p:spPr>
          <a:xfrm>
            <a:off x="457200" y="1524000"/>
            <a:ext cx="8229600" cy="5029200"/>
          </a:xfrm>
        </p:spPr>
        <p:txBody>
          <a:bodyPr>
            <a:noAutofit/>
          </a:bodyPr>
          <a:lstStyle/>
          <a:p>
            <a:pPr lvl="0"/>
            <a:r>
              <a:rPr lang="en-US" sz="3000" dirty="0"/>
              <a:t>Persistent craving for non-nutritive substances (Al Nasser &amp; </a:t>
            </a:r>
            <a:r>
              <a:rPr lang="en-US" sz="3000" dirty="0" err="1"/>
              <a:t>Alsaad</a:t>
            </a:r>
            <a:r>
              <a:rPr lang="en-US" sz="3000" dirty="0"/>
              <a:t>, 2023).</a:t>
            </a:r>
          </a:p>
          <a:p>
            <a:pPr lvl="0"/>
            <a:r>
              <a:rPr lang="en-US" sz="3000" dirty="0"/>
              <a:t>Consumption of items like soil, chalk, or hair.</a:t>
            </a:r>
          </a:p>
          <a:p>
            <a:pPr lvl="0"/>
            <a:r>
              <a:rPr lang="en-US" sz="3000" dirty="0"/>
              <a:t>Gastrointestinal complications: Obstruction, perforation, or poisoning.</a:t>
            </a:r>
          </a:p>
          <a:p>
            <a:pPr lvl="0"/>
            <a:r>
              <a:rPr lang="en-US" sz="3000" dirty="0"/>
              <a:t>Nutritional deficiencies result from the behavior.</a:t>
            </a:r>
          </a:p>
          <a:p>
            <a:pPr lvl="0"/>
            <a:r>
              <a:rPr lang="en-US" sz="3000" dirty="0"/>
              <a:t>Potential for social and functional impairments (Al Nasser &amp; </a:t>
            </a:r>
            <a:r>
              <a:rPr lang="en-US" sz="3000" dirty="0" err="1"/>
              <a:t>Alsaad</a:t>
            </a:r>
            <a:r>
              <a:rPr lang="en-US" sz="3000" dirty="0"/>
              <a:t>, 2023).</a:t>
            </a:r>
          </a:p>
          <a:p>
            <a:endParaRPr lang="en-US" sz="3000" dirty="0"/>
          </a:p>
        </p:txBody>
      </p:sp>
    </p:spTree>
    <p:extLst>
      <p:ext uri="{BB962C8B-B14F-4D97-AF65-F5344CB8AC3E}">
        <p14:creationId xmlns:p14="http://schemas.microsoft.com/office/powerpoint/2010/main" val="2392472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90600"/>
            <a:ext cx="7848600" cy="856488"/>
          </a:xfrm>
        </p:spPr>
        <p:txBody>
          <a:bodyPr>
            <a:noAutofit/>
          </a:bodyPr>
          <a:lstStyle/>
          <a:p>
            <a:pPr algn="ctr"/>
            <a:r>
              <a:rPr lang="en-US" sz="4000" b="1" dirty="0">
                <a:latin typeface="+mn-lt"/>
              </a:rPr>
              <a:t>Behavioral Manifestations: What Behavior Would You Expect to See?</a:t>
            </a:r>
            <a:endParaRPr lang="en-US" sz="4000" dirty="0">
              <a:latin typeface="+mn-lt"/>
            </a:endParaRPr>
          </a:p>
        </p:txBody>
      </p:sp>
      <p:sp>
        <p:nvSpPr>
          <p:cNvPr id="3" name="Content Placeholder 2"/>
          <p:cNvSpPr>
            <a:spLocks noGrp="1"/>
          </p:cNvSpPr>
          <p:nvPr>
            <p:ph idx="1"/>
          </p:nvPr>
        </p:nvSpPr>
        <p:spPr/>
        <p:txBody>
          <a:bodyPr>
            <a:normAutofit/>
          </a:bodyPr>
          <a:lstStyle/>
          <a:p>
            <a:pPr lvl="0"/>
            <a:r>
              <a:rPr lang="en-US" sz="2800" dirty="0"/>
              <a:t>Repetitive ingestion of non-food items (</a:t>
            </a:r>
            <a:r>
              <a:rPr lang="en-US" sz="2800" dirty="0" err="1"/>
              <a:t>Akgul</a:t>
            </a:r>
            <a:r>
              <a:rPr lang="en-US" sz="2800" dirty="0"/>
              <a:t>, 2020).</a:t>
            </a:r>
          </a:p>
          <a:p>
            <a:pPr lvl="0"/>
            <a:r>
              <a:rPr lang="en-US" sz="2800" dirty="0"/>
              <a:t>Secretive behavior surrounding the consumption (</a:t>
            </a:r>
            <a:r>
              <a:rPr lang="en-US" sz="2800" dirty="0" err="1"/>
              <a:t>Akgul</a:t>
            </a:r>
            <a:r>
              <a:rPr lang="en-US" sz="2800" dirty="0"/>
              <a:t>, 2020).</a:t>
            </a:r>
          </a:p>
          <a:p>
            <a:pPr lvl="0"/>
            <a:r>
              <a:rPr lang="en-US" sz="2800" dirty="0"/>
              <a:t>Preference for specific non-nutritive substances.</a:t>
            </a:r>
          </a:p>
          <a:p>
            <a:pPr lvl="0"/>
            <a:r>
              <a:rPr lang="en-US" sz="2800" dirty="0"/>
              <a:t>Resistance to consuming regular food (</a:t>
            </a:r>
            <a:r>
              <a:rPr lang="en-US" sz="2800" dirty="0" err="1"/>
              <a:t>Akgul</a:t>
            </a:r>
            <a:r>
              <a:rPr lang="en-US" sz="2800" dirty="0"/>
              <a:t>, 2020).</a:t>
            </a:r>
          </a:p>
          <a:p>
            <a:pPr lvl="0"/>
            <a:r>
              <a:rPr lang="en-US" sz="2800" dirty="0"/>
              <a:t>Possible signs of gastrointestinal distress.</a:t>
            </a:r>
          </a:p>
          <a:p>
            <a:endParaRPr lang="en-US" sz="2800" dirty="0"/>
          </a:p>
        </p:txBody>
      </p:sp>
    </p:spTree>
    <p:extLst>
      <p:ext uri="{BB962C8B-B14F-4D97-AF65-F5344CB8AC3E}">
        <p14:creationId xmlns:p14="http://schemas.microsoft.com/office/powerpoint/2010/main" val="2678204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19912"/>
          </a:xfrm>
        </p:spPr>
        <p:txBody>
          <a:bodyPr>
            <a:normAutofit/>
          </a:bodyPr>
          <a:lstStyle/>
          <a:p>
            <a:pPr algn="ctr"/>
            <a:r>
              <a:rPr lang="en-US" sz="4000" b="1" dirty="0">
                <a:latin typeface="+mn-lt"/>
              </a:rPr>
              <a:t>Treatment Implications</a:t>
            </a:r>
            <a:endParaRPr lang="en-US" sz="4000" dirty="0">
              <a:latin typeface="+mn-lt"/>
            </a:endParaRPr>
          </a:p>
        </p:txBody>
      </p:sp>
      <p:sp>
        <p:nvSpPr>
          <p:cNvPr id="3" name="Content Placeholder 2"/>
          <p:cNvSpPr>
            <a:spLocks noGrp="1"/>
          </p:cNvSpPr>
          <p:nvPr>
            <p:ph idx="1"/>
          </p:nvPr>
        </p:nvSpPr>
        <p:spPr>
          <a:xfrm>
            <a:off x="457200" y="1447800"/>
            <a:ext cx="8382000" cy="5029200"/>
          </a:xfrm>
        </p:spPr>
        <p:txBody>
          <a:bodyPr>
            <a:noAutofit/>
          </a:bodyPr>
          <a:lstStyle/>
          <a:p>
            <a:pPr lvl="0"/>
            <a:r>
              <a:rPr lang="en-US" sz="3200" dirty="0"/>
              <a:t>Address underlying nutritional deficiencies.</a:t>
            </a:r>
          </a:p>
          <a:p>
            <a:pPr lvl="0"/>
            <a:r>
              <a:rPr lang="en-US" sz="3200" dirty="0"/>
              <a:t>Behavioral interventions such as Applied Behavior Analysis (ABA) and Cognitive-behavioral therapy (Thomas et al., 2023).</a:t>
            </a:r>
          </a:p>
          <a:p>
            <a:pPr lvl="0"/>
            <a:r>
              <a:rPr lang="en-US" sz="3200" dirty="0"/>
              <a:t>Psychotherapy: Cognitive-behavioral approaches.</a:t>
            </a:r>
          </a:p>
          <a:p>
            <a:pPr lvl="0"/>
            <a:r>
              <a:rPr lang="en-US" sz="3200" dirty="0"/>
              <a:t>Environmental modifications to limit access to non-food items (Al Nasser &amp; </a:t>
            </a:r>
            <a:r>
              <a:rPr lang="en-US" sz="3200" dirty="0" err="1"/>
              <a:t>Alsaad</a:t>
            </a:r>
            <a:r>
              <a:rPr lang="en-US" sz="3200" dirty="0"/>
              <a:t>, 2023).</a:t>
            </a:r>
          </a:p>
          <a:p>
            <a:endParaRPr lang="en-US" sz="3200" dirty="0"/>
          </a:p>
        </p:txBody>
      </p:sp>
    </p:spTree>
    <p:extLst>
      <p:ext uri="{BB962C8B-B14F-4D97-AF65-F5344CB8AC3E}">
        <p14:creationId xmlns:p14="http://schemas.microsoft.com/office/powerpoint/2010/main" val="2767438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740229"/>
          </a:xfrm>
        </p:spPr>
        <p:txBody>
          <a:bodyPr>
            <a:noAutofit/>
          </a:bodyPr>
          <a:lstStyle/>
          <a:p>
            <a:pPr algn="ctr"/>
            <a:r>
              <a:rPr lang="en-US" sz="4000" b="1" dirty="0">
                <a:latin typeface="+mn-lt"/>
              </a:rPr>
              <a:t>Counseling versus Hospitalization</a:t>
            </a:r>
            <a:r>
              <a:rPr lang="en-US" sz="4000" dirty="0">
                <a:latin typeface="+mn-lt"/>
              </a:rPr>
              <a:t/>
            </a:r>
            <a:br>
              <a:rPr lang="en-US" sz="4000" dirty="0">
                <a:latin typeface="+mn-lt"/>
              </a:rPr>
            </a:br>
            <a:endParaRPr lang="en-US" sz="4000" dirty="0">
              <a:latin typeface="+mn-lt"/>
            </a:endParaRPr>
          </a:p>
        </p:txBody>
      </p:sp>
      <p:sp>
        <p:nvSpPr>
          <p:cNvPr id="3" name="Content Placeholder 2"/>
          <p:cNvSpPr>
            <a:spLocks noGrp="1"/>
          </p:cNvSpPr>
          <p:nvPr>
            <p:ph idx="1"/>
          </p:nvPr>
        </p:nvSpPr>
        <p:spPr>
          <a:xfrm>
            <a:off x="457200" y="1295400"/>
            <a:ext cx="8229600" cy="5029200"/>
          </a:xfrm>
        </p:spPr>
        <p:txBody>
          <a:bodyPr>
            <a:normAutofit/>
          </a:bodyPr>
          <a:lstStyle/>
          <a:p>
            <a:pPr lvl="0"/>
            <a:r>
              <a:rPr lang="en-US" dirty="0"/>
              <a:t>Counseling is needed for mild cases without severe complications.</a:t>
            </a:r>
          </a:p>
          <a:p>
            <a:pPr lvl="0"/>
            <a:r>
              <a:rPr lang="en-US" dirty="0"/>
              <a:t>Hospitalization for cases with medical emergencies or severe psychiatric comorbidities (Moline et al., 2020).</a:t>
            </a:r>
          </a:p>
          <a:p>
            <a:pPr lvl="0"/>
            <a:r>
              <a:rPr lang="en-US" dirty="0"/>
              <a:t>Continuous assessment to determine the appropriate level of care.</a:t>
            </a:r>
          </a:p>
          <a:p>
            <a:pPr lvl="0"/>
            <a:r>
              <a:rPr lang="en-US" dirty="0"/>
              <a:t>Involving family and caregivers in the treatment plan (Williams et al., 2022).</a:t>
            </a:r>
          </a:p>
          <a:p>
            <a:pPr lvl="0"/>
            <a:r>
              <a:rPr lang="en-US" dirty="0"/>
              <a:t>Transitioning from inpatient to outpatient care when appropriate.</a:t>
            </a:r>
          </a:p>
          <a:p>
            <a:endParaRPr lang="en-US" dirty="0"/>
          </a:p>
        </p:txBody>
      </p:sp>
    </p:spTree>
    <p:extLst>
      <p:ext uri="{BB962C8B-B14F-4D97-AF65-F5344CB8AC3E}">
        <p14:creationId xmlns:p14="http://schemas.microsoft.com/office/powerpoint/2010/main" val="3149875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66800"/>
            <a:ext cx="8229600" cy="896112"/>
          </a:xfrm>
        </p:spPr>
        <p:txBody>
          <a:bodyPr>
            <a:noAutofit/>
          </a:bodyPr>
          <a:lstStyle/>
          <a:p>
            <a:pPr algn="ctr"/>
            <a:r>
              <a:rPr lang="en-US" sz="3600" b="1" dirty="0" smtClean="0">
                <a:latin typeface="+mn-lt"/>
              </a:rPr>
              <a:t/>
            </a:r>
            <a:br>
              <a:rPr lang="en-US" sz="3600" b="1" dirty="0" smtClean="0">
                <a:latin typeface="+mn-lt"/>
              </a:rPr>
            </a:br>
            <a:r>
              <a:rPr lang="en-US" sz="3600" b="1" dirty="0" smtClean="0">
                <a:latin typeface="+mn-lt"/>
              </a:rPr>
              <a:t>Expected </a:t>
            </a:r>
            <a:r>
              <a:rPr lang="en-US" sz="3600" b="1" dirty="0">
                <a:latin typeface="+mn-lt"/>
              </a:rPr>
              <a:t>Pharmacological Implications</a:t>
            </a:r>
            <a:r>
              <a:rPr lang="en-US" sz="3600" dirty="0">
                <a:latin typeface="+mn-lt"/>
              </a:rPr>
              <a:t/>
            </a:r>
            <a:br>
              <a:rPr lang="en-US" sz="3600" dirty="0">
                <a:latin typeface="+mn-lt"/>
              </a:rPr>
            </a:br>
            <a:endParaRPr lang="en-US" sz="3600" dirty="0">
              <a:latin typeface="+mn-lt"/>
            </a:endParaRPr>
          </a:p>
        </p:txBody>
      </p:sp>
      <p:sp>
        <p:nvSpPr>
          <p:cNvPr id="3" name="Content Placeholder 2"/>
          <p:cNvSpPr>
            <a:spLocks noGrp="1"/>
          </p:cNvSpPr>
          <p:nvPr>
            <p:ph idx="1"/>
          </p:nvPr>
        </p:nvSpPr>
        <p:spPr>
          <a:xfrm>
            <a:off x="457200" y="1524000"/>
            <a:ext cx="8229600" cy="4800600"/>
          </a:xfrm>
        </p:spPr>
        <p:txBody>
          <a:bodyPr>
            <a:normAutofit/>
          </a:bodyPr>
          <a:lstStyle/>
          <a:p>
            <a:pPr lvl="0"/>
            <a:r>
              <a:rPr lang="en-US" sz="2900" dirty="0"/>
              <a:t>There are no FDA-approved medications for Pica (Al Nasser &amp; </a:t>
            </a:r>
            <a:r>
              <a:rPr lang="en-US" sz="2900" dirty="0" err="1"/>
              <a:t>Alsaad</a:t>
            </a:r>
            <a:r>
              <a:rPr lang="en-US" sz="2900" dirty="0"/>
              <a:t>, 2023).</a:t>
            </a:r>
          </a:p>
          <a:p>
            <a:pPr lvl="0"/>
            <a:r>
              <a:rPr lang="en-US" sz="2900" dirty="0"/>
              <a:t>Iron supplementation for cases linked to iron-deficiency anemia.</a:t>
            </a:r>
          </a:p>
          <a:p>
            <a:pPr lvl="0"/>
            <a:r>
              <a:rPr lang="en-US" sz="2900" dirty="0"/>
              <a:t>Use of SSRIs in cases with comorbid OCD or anxiety disorders (Williams et al., 2022).</a:t>
            </a:r>
          </a:p>
          <a:p>
            <a:pPr lvl="0"/>
            <a:r>
              <a:rPr lang="en-US" sz="2900" dirty="0"/>
              <a:t>Antipsychotic medications in severe psychiatric cases (Williams et al., 2022).</a:t>
            </a:r>
          </a:p>
          <a:p>
            <a:pPr lvl="0"/>
            <a:r>
              <a:rPr lang="en-US" sz="2900" dirty="0"/>
              <a:t>Monitoring for side effects and efficacy.</a:t>
            </a:r>
          </a:p>
          <a:p>
            <a:endParaRPr lang="en-US" sz="2900" dirty="0"/>
          </a:p>
        </p:txBody>
      </p:sp>
    </p:spTree>
    <p:extLst>
      <p:ext uri="{BB962C8B-B14F-4D97-AF65-F5344CB8AC3E}">
        <p14:creationId xmlns:p14="http://schemas.microsoft.com/office/powerpoint/2010/main" val="2910544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000" b="1" dirty="0">
                <a:latin typeface="+mn-lt"/>
              </a:rPr>
              <a:t>Nursing Implications Regarding Patient Treatment</a:t>
            </a:r>
            <a:endParaRPr lang="en-US" sz="4000" dirty="0">
              <a:latin typeface="+mn-lt"/>
            </a:endParaRPr>
          </a:p>
        </p:txBody>
      </p:sp>
      <p:sp>
        <p:nvSpPr>
          <p:cNvPr id="3" name="Content Placeholder 2"/>
          <p:cNvSpPr>
            <a:spLocks noGrp="1"/>
          </p:cNvSpPr>
          <p:nvPr>
            <p:ph idx="1"/>
          </p:nvPr>
        </p:nvSpPr>
        <p:spPr/>
        <p:txBody>
          <a:bodyPr>
            <a:normAutofit/>
          </a:bodyPr>
          <a:lstStyle/>
          <a:p>
            <a:pPr lvl="0"/>
            <a:r>
              <a:rPr lang="en-US" dirty="0"/>
              <a:t>Conduct thorough assessments to identify Pica's behaviors (Williams et al., 2022).</a:t>
            </a:r>
          </a:p>
          <a:p>
            <a:pPr lvl="0"/>
            <a:r>
              <a:rPr lang="en-US" dirty="0"/>
              <a:t>Educate patients and families about the risks associated with Pica.</a:t>
            </a:r>
          </a:p>
          <a:p>
            <a:pPr lvl="0"/>
            <a:r>
              <a:rPr lang="en-US" dirty="0"/>
              <a:t>Work with other medical professionals for comprehensive care (Williams et al., 2022).</a:t>
            </a:r>
          </a:p>
          <a:p>
            <a:pPr lvl="0"/>
            <a:r>
              <a:rPr lang="en-US" dirty="0"/>
              <a:t>Implement safety measures to prevent ingestion of harmful substances.</a:t>
            </a:r>
          </a:p>
          <a:p>
            <a:pPr lvl="0"/>
            <a:r>
              <a:rPr lang="en-US" dirty="0"/>
              <a:t>Monitor nutritional status and provide appropriate interventions.</a:t>
            </a:r>
          </a:p>
          <a:p>
            <a:endParaRPr lang="en-US" dirty="0"/>
          </a:p>
        </p:txBody>
      </p:sp>
    </p:spTree>
    <p:extLst>
      <p:ext uri="{BB962C8B-B14F-4D97-AF65-F5344CB8AC3E}">
        <p14:creationId xmlns:p14="http://schemas.microsoft.com/office/powerpoint/2010/main" val="623253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normAutofit/>
          </a:bodyPr>
          <a:lstStyle/>
          <a:p>
            <a:pPr algn="ctr"/>
            <a:r>
              <a:rPr lang="en-US" sz="4000" b="1" dirty="0">
                <a:latin typeface="+mn-lt"/>
              </a:rPr>
              <a:t>Conclusion</a:t>
            </a:r>
            <a:endParaRPr lang="en-US" sz="4000" dirty="0">
              <a:latin typeface="+mn-lt"/>
            </a:endParaRPr>
          </a:p>
        </p:txBody>
      </p:sp>
      <p:sp>
        <p:nvSpPr>
          <p:cNvPr id="3" name="Content Placeholder 2"/>
          <p:cNvSpPr>
            <a:spLocks noGrp="1"/>
          </p:cNvSpPr>
          <p:nvPr>
            <p:ph idx="1"/>
          </p:nvPr>
        </p:nvSpPr>
        <p:spPr>
          <a:xfrm>
            <a:off x="457200" y="1600200"/>
            <a:ext cx="8229600" cy="4724400"/>
          </a:xfrm>
        </p:spPr>
        <p:txBody>
          <a:bodyPr>
            <a:noAutofit/>
          </a:bodyPr>
          <a:lstStyle/>
          <a:p>
            <a:pPr lvl="0"/>
            <a:r>
              <a:rPr lang="en-US" sz="3200" dirty="0"/>
              <a:t>Pica is an eating disorder with serious health implications.</a:t>
            </a:r>
          </a:p>
          <a:p>
            <a:pPr lvl="0"/>
            <a:r>
              <a:rPr lang="en-US" sz="3200" dirty="0"/>
              <a:t>Early detection and intervention are critical.</a:t>
            </a:r>
          </a:p>
          <a:p>
            <a:pPr lvl="0"/>
            <a:r>
              <a:rPr lang="en-US" sz="3200" dirty="0"/>
              <a:t>Nutritional and psychological factors should be addressed.</a:t>
            </a:r>
          </a:p>
          <a:p>
            <a:pPr lvl="0"/>
            <a:r>
              <a:rPr lang="en-US" sz="3200" dirty="0"/>
              <a:t>Nurses prevent the condition through education and management.</a:t>
            </a:r>
          </a:p>
          <a:p>
            <a:pPr lvl="0"/>
            <a:r>
              <a:rPr lang="en-US" sz="3200" dirty="0"/>
              <a:t>Ongoing research is needed to better understand and treat Pica.</a:t>
            </a:r>
          </a:p>
        </p:txBody>
      </p:sp>
    </p:spTree>
    <p:extLst>
      <p:ext uri="{BB962C8B-B14F-4D97-AF65-F5344CB8AC3E}">
        <p14:creationId xmlns:p14="http://schemas.microsoft.com/office/powerpoint/2010/main" val="1886795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143000"/>
          </a:xfrm>
        </p:spPr>
        <p:txBody>
          <a:bodyPr>
            <a:normAutofit/>
          </a:bodyPr>
          <a:lstStyle/>
          <a:p>
            <a:pPr algn="ctr"/>
            <a:r>
              <a:rPr lang="en-US" sz="4000" b="1" dirty="0" smtClean="0">
                <a:latin typeface="+mn-lt"/>
              </a:rPr>
              <a:t>References </a:t>
            </a:r>
            <a:endParaRPr lang="en-US" sz="4000" b="1" dirty="0">
              <a:latin typeface="+mn-lt"/>
            </a:endParaRPr>
          </a:p>
        </p:txBody>
      </p:sp>
      <p:sp>
        <p:nvSpPr>
          <p:cNvPr id="3" name="Content Placeholder 2"/>
          <p:cNvSpPr>
            <a:spLocks noGrp="1"/>
          </p:cNvSpPr>
          <p:nvPr>
            <p:ph idx="1"/>
          </p:nvPr>
        </p:nvSpPr>
        <p:spPr>
          <a:xfrm>
            <a:off x="533400" y="1371600"/>
            <a:ext cx="8153400" cy="4953000"/>
          </a:xfrm>
        </p:spPr>
        <p:txBody>
          <a:bodyPr>
            <a:normAutofit fontScale="62500" lnSpcReduction="20000"/>
          </a:bodyPr>
          <a:lstStyle/>
          <a:p>
            <a:r>
              <a:rPr lang="en-US" sz="2800" dirty="0" err="1"/>
              <a:t>Akgul</a:t>
            </a:r>
            <a:r>
              <a:rPr lang="en-US" sz="2800" dirty="0"/>
              <a:t>, H. (2020). Case: Pica eating matchstick and its chronic </a:t>
            </a:r>
            <a:r>
              <a:rPr lang="en-US" sz="2800" dirty="0" err="1"/>
              <a:t>gis</a:t>
            </a:r>
            <a:r>
              <a:rPr lang="en-US" sz="2800" dirty="0"/>
              <a:t> effects. </a:t>
            </a:r>
            <a:r>
              <a:rPr lang="en-US" sz="2800" i="1" dirty="0"/>
              <a:t>International Journal of Surgery Open</a:t>
            </a:r>
            <a:r>
              <a:rPr lang="en-US" sz="2800" dirty="0"/>
              <a:t>, </a:t>
            </a:r>
            <a:r>
              <a:rPr lang="en-US" sz="2800" i="1" dirty="0"/>
              <a:t>27</a:t>
            </a:r>
            <a:r>
              <a:rPr lang="en-US" sz="2800" dirty="0"/>
              <a:t>, 184–187. </a:t>
            </a:r>
            <a:r>
              <a:rPr lang="en-US" sz="2800" u="sng" dirty="0">
                <a:hlinkClick r:id="rId2"/>
              </a:rPr>
              <a:t>https://doi.org/10.1016/j.ijso.2020.11.010</a:t>
            </a:r>
            <a:r>
              <a:rPr lang="en-US" sz="2800" dirty="0"/>
              <a:t> </a:t>
            </a:r>
          </a:p>
          <a:p>
            <a:r>
              <a:rPr lang="en-US" sz="2800" dirty="0"/>
              <a:t>Al Nasser, Y., &amp; </a:t>
            </a:r>
            <a:r>
              <a:rPr lang="en-US" sz="2800" dirty="0" err="1"/>
              <a:t>Alsaad</a:t>
            </a:r>
            <a:r>
              <a:rPr lang="en-US" sz="2800" dirty="0"/>
              <a:t>, A. J. (2023, June 26). </a:t>
            </a:r>
            <a:r>
              <a:rPr lang="en-US" sz="2800" i="1" dirty="0"/>
              <a:t>Pica</a:t>
            </a:r>
            <a:r>
              <a:rPr lang="en-US" sz="2800" dirty="0"/>
              <a:t>. PubMed; </a:t>
            </a:r>
            <a:r>
              <a:rPr lang="en-US" sz="2800" dirty="0" err="1"/>
              <a:t>StatPearls</a:t>
            </a:r>
            <a:r>
              <a:rPr lang="en-US" sz="2800" dirty="0"/>
              <a:t> Publishing. </a:t>
            </a:r>
            <a:r>
              <a:rPr lang="en-US" sz="2800" u="sng" dirty="0">
                <a:hlinkClick r:id="rId3"/>
              </a:rPr>
              <a:t>https://www.ncbi.nlm.nih.gov/books/NBK532242/</a:t>
            </a:r>
            <a:r>
              <a:rPr lang="en-US" sz="2800" dirty="0"/>
              <a:t> </a:t>
            </a:r>
          </a:p>
          <a:p>
            <a:r>
              <a:rPr lang="en-US" sz="2800" dirty="0" err="1"/>
              <a:t>Ganesan</a:t>
            </a:r>
            <a:r>
              <a:rPr lang="en-US" sz="2800" dirty="0"/>
              <a:t>, P. R., &amp; </a:t>
            </a:r>
            <a:r>
              <a:rPr lang="en-US" sz="2800" dirty="0" err="1"/>
              <a:t>Vasauskas</a:t>
            </a:r>
            <a:r>
              <a:rPr lang="en-US" sz="2800" dirty="0"/>
              <a:t>, A. A. (2023). The Association Between Pica and Iron-Deficiency Anemia: A Scoping Review. </a:t>
            </a:r>
            <a:r>
              <a:rPr lang="en-US" sz="2800" i="1" dirty="0" err="1"/>
              <a:t>Cureus</a:t>
            </a:r>
            <a:r>
              <a:rPr lang="en-US" sz="2800" dirty="0"/>
              <a:t>, </a:t>
            </a:r>
            <a:r>
              <a:rPr lang="en-US" sz="2800" i="1" dirty="0"/>
              <a:t>15</a:t>
            </a:r>
            <a:r>
              <a:rPr lang="en-US" sz="2800" dirty="0"/>
              <a:t>(4). </a:t>
            </a:r>
            <a:r>
              <a:rPr lang="en-US" sz="2800" u="sng" dirty="0">
                <a:hlinkClick r:id="rId4"/>
              </a:rPr>
              <a:t>https://doi.org/10.7759/cureus.37904</a:t>
            </a:r>
            <a:r>
              <a:rPr lang="en-US" sz="2800" dirty="0"/>
              <a:t> </a:t>
            </a:r>
          </a:p>
          <a:p>
            <a:r>
              <a:rPr lang="en-US" sz="2800" dirty="0"/>
              <a:t>Moline, R., </a:t>
            </a:r>
            <a:r>
              <a:rPr lang="en-US" sz="2800" dirty="0" err="1"/>
              <a:t>Hou</a:t>
            </a:r>
            <a:r>
              <a:rPr lang="en-US" sz="2800" dirty="0"/>
              <a:t>, S., </a:t>
            </a:r>
            <a:r>
              <a:rPr lang="en-US" sz="2800" dirty="0" err="1"/>
              <a:t>Chevrier</a:t>
            </a:r>
            <a:r>
              <a:rPr lang="en-US" sz="2800" dirty="0"/>
              <a:t>, J., &amp; </a:t>
            </a:r>
            <a:r>
              <a:rPr lang="en-US" sz="2800" dirty="0" err="1"/>
              <a:t>Thomassin</a:t>
            </a:r>
            <a:r>
              <a:rPr lang="en-US" sz="2800" dirty="0"/>
              <a:t>, K. (2020). A systematic review of the effectiveness of </a:t>
            </a:r>
            <a:r>
              <a:rPr lang="en-US" sz="2800" dirty="0" err="1"/>
              <a:t>behavioural</a:t>
            </a:r>
            <a:r>
              <a:rPr lang="en-US" sz="2800" dirty="0"/>
              <a:t> treatments for pica in youths. </a:t>
            </a:r>
            <a:r>
              <a:rPr lang="en-US" sz="2800" i="1" dirty="0"/>
              <a:t>Clinical Psychology &amp; Psychotherapy</a:t>
            </a:r>
            <a:r>
              <a:rPr lang="en-US" sz="2800" dirty="0"/>
              <a:t>, </a:t>
            </a:r>
            <a:r>
              <a:rPr lang="en-US" sz="2800" i="1" dirty="0"/>
              <a:t>28</a:t>
            </a:r>
            <a:r>
              <a:rPr lang="en-US" sz="2800" dirty="0"/>
              <a:t>(1), 39–55. </a:t>
            </a:r>
            <a:r>
              <a:rPr lang="en-US" sz="2800" u="sng" dirty="0">
                <a:hlinkClick r:id="rId5"/>
              </a:rPr>
              <a:t>https://doi.org/10.1002/cpp.2491</a:t>
            </a:r>
            <a:r>
              <a:rPr lang="en-US" sz="2800" dirty="0"/>
              <a:t> </a:t>
            </a:r>
          </a:p>
          <a:p>
            <a:r>
              <a:rPr lang="en-US" sz="2800" dirty="0"/>
              <a:t>Schnitzler, E. (2022). The Neurology and Psychopathology of Pica. </a:t>
            </a:r>
            <a:r>
              <a:rPr lang="en-US" sz="2800" i="1" dirty="0"/>
              <a:t>Current Neurology and Neuroscience Reports</a:t>
            </a:r>
            <a:r>
              <a:rPr lang="en-US" sz="2800" dirty="0"/>
              <a:t>, </a:t>
            </a:r>
            <a:r>
              <a:rPr lang="en-US" sz="2800" i="1" dirty="0"/>
              <a:t>22</a:t>
            </a:r>
            <a:r>
              <a:rPr lang="en-US" sz="2800" dirty="0"/>
              <a:t>(8), 531–536. </a:t>
            </a:r>
            <a:r>
              <a:rPr lang="en-US" sz="2800" u="sng" dirty="0">
                <a:hlinkClick r:id="rId6"/>
              </a:rPr>
              <a:t>https://doi.org/10.1007/s11910-022-01218-2</a:t>
            </a:r>
            <a:r>
              <a:rPr lang="en-US" sz="2800" dirty="0"/>
              <a:t> </a:t>
            </a:r>
          </a:p>
          <a:p>
            <a:r>
              <a:rPr lang="en-US" sz="2800" dirty="0"/>
              <a:t>Thomas, B. R., Bali, D., &amp; O’Connor, J. T. (2023). Behavioral treatment of pica in a child with sickle cell disease. </a:t>
            </a:r>
            <a:r>
              <a:rPr lang="en-US" sz="2800" i="1" dirty="0"/>
              <a:t>Clinical Practice in Pediatric Psychology</a:t>
            </a:r>
            <a:r>
              <a:rPr lang="en-US" sz="2800" dirty="0"/>
              <a:t>, </a:t>
            </a:r>
            <a:r>
              <a:rPr lang="en-US" sz="2800" i="1" dirty="0"/>
              <a:t>12</a:t>
            </a:r>
            <a:r>
              <a:rPr lang="en-US" sz="2800" dirty="0"/>
              <a:t>(3). </a:t>
            </a:r>
            <a:r>
              <a:rPr lang="en-US" sz="2800" u="sng" dirty="0">
                <a:hlinkClick r:id="rId7"/>
              </a:rPr>
              <a:t>https://doi.org/10.1037/cpp0000511</a:t>
            </a:r>
            <a:r>
              <a:rPr lang="en-US" sz="2800" dirty="0"/>
              <a:t> </a:t>
            </a:r>
          </a:p>
          <a:p>
            <a:r>
              <a:rPr lang="en-US" sz="2800" dirty="0"/>
              <a:t>Williams, F., Gibbs, S., &amp; </a:t>
            </a:r>
            <a:r>
              <a:rPr lang="en-US" sz="2800" dirty="0" err="1"/>
              <a:t>Addo</a:t>
            </a:r>
            <a:r>
              <a:rPr lang="en-US" sz="2800" dirty="0"/>
              <a:t>, A. S. (2022). The assessment and management of pica in people with intellectual disability. </a:t>
            </a:r>
            <a:r>
              <a:rPr lang="en-US" sz="2800" i="1" dirty="0" err="1"/>
              <a:t>BJPsych</a:t>
            </a:r>
            <a:r>
              <a:rPr lang="en-US" sz="2800" i="1" dirty="0"/>
              <a:t> Advances</a:t>
            </a:r>
            <a:r>
              <a:rPr lang="en-US" sz="2800" dirty="0"/>
              <a:t>, </a:t>
            </a:r>
            <a:r>
              <a:rPr lang="en-US" sz="2800" i="1" dirty="0"/>
              <a:t>28</a:t>
            </a:r>
            <a:r>
              <a:rPr lang="en-US" sz="2800" dirty="0"/>
              <a:t>(6), 1–10. </a:t>
            </a:r>
            <a:r>
              <a:rPr lang="en-US" sz="2800" u="sng" dirty="0">
                <a:hlinkClick r:id="rId8"/>
              </a:rPr>
              <a:t>https://doi.org/10.1192/bja.2022.24</a:t>
            </a:r>
            <a:r>
              <a:rPr lang="en-US" sz="2800" dirty="0"/>
              <a:t> </a:t>
            </a:r>
          </a:p>
          <a:p>
            <a:pPr marL="0" indent="0">
              <a:buNone/>
            </a:pPr>
            <a:endParaRPr lang="en-US" sz="2800" dirty="0"/>
          </a:p>
          <a:p>
            <a:endParaRPr lang="en-US" dirty="0"/>
          </a:p>
        </p:txBody>
      </p:sp>
    </p:spTree>
    <p:extLst>
      <p:ext uri="{BB962C8B-B14F-4D97-AF65-F5344CB8AC3E}">
        <p14:creationId xmlns:p14="http://schemas.microsoft.com/office/powerpoint/2010/main" val="1931025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95</TotalTime>
  <Words>1528</Words>
  <Application>Microsoft Office PowerPoint</Application>
  <PresentationFormat>On-screen Show (4:3)</PresentationFormat>
  <Paragraphs>81</Paragraphs>
  <Slides>11</Slides>
  <Notes>9</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Flow</vt:lpstr>
      <vt:lpstr>Pico   Student’s Name Institutional Affiliation Course Title Professor’s Name Date</vt:lpstr>
      <vt:lpstr>Introduction: Purpose and Description of Pica</vt:lpstr>
      <vt:lpstr>Etiology</vt:lpstr>
      <vt:lpstr>Symptomatology</vt:lpstr>
      <vt:lpstr>Behavioral Manifestations: What Behavior Would You Expect to See?</vt:lpstr>
      <vt:lpstr>Treatment Implications</vt:lpstr>
      <vt:lpstr>Counseling versus Hospitalization </vt:lpstr>
      <vt:lpstr> Expected Pharmacological Implications </vt:lpstr>
      <vt:lpstr>Nursing Implications Regarding Patient Treatment</vt:lpstr>
      <vt:lpstr>Conclusion</vt:lpstr>
      <vt:lpstr>References </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5</cp:revision>
  <dcterms:created xsi:type="dcterms:W3CDTF">2025-04-16T14:38:55Z</dcterms:created>
  <dcterms:modified xsi:type="dcterms:W3CDTF">2025-04-16T16:14:36Z</dcterms:modified>
</cp:coreProperties>
</file>